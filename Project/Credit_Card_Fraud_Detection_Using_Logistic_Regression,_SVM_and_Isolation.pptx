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sldIdLst>
    <p:sldId id="256" r:id="rId2"/>
    <p:sldId id="279" r:id="rId3"/>
    <p:sldId id="259" r:id="rId4"/>
    <p:sldId id="260" r:id="rId5"/>
    <p:sldId id="281" r:id="rId6"/>
    <p:sldId id="261" r:id="rId7"/>
    <p:sldId id="262" r:id="rId8"/>
    <p:sldId id="263" r:id="rId9"/>
    <p:sldId id="282" r:id="rId10"/>
    <p:sldId id="284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2010" autoAdjust="0"/>
  </p:normalViewPr>
  <p:slideViewPr>
    <p:cSldViewPr snapToGrid="0">
      <p:cViewPr varScale="1">
        <p:scale>
          <a:sx n="78" d="100"/>
          <a:sy n="78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549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68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05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72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073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03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52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28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7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7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152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3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5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835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044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31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18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95FDDF-42C6-42D4-9316-5DFE900840F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AD6A22-0BF5-47B3-AAFB-2EB592D6F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449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84147" y="1323244"/>
            <a:ext cx="7955279" cy="852085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Credit Card Fraud Detection Using Logistic Regression, </a:t>
            </a:r>
            <a:r>
              <a:rPr lang="en-US" sz="2800" dirty="0" smtClean="0"/>
              <a:t>SVM and </a:t>
            </a:r>
            <a:r>
              <a:rPr lang="en-US" sz="2800" dirty="0"/>
              <a:t>Isolation Forest</a:t>
            </a:r>
            <a:endParaRPr lang="en-IN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2175329"/>
            <a:ext cx="7197726" cy="417060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COURSE : Machine learning</a:t>
            </a:r>
          </a:p>
          <a:p>
            <a:pPr algn="ctr"/>
            <a:r>
              <a:rPr lang="en-US" dirty="0" smtClean="0"/>
              <a:t>COURSE CODE: 25SC2107E</a:t>
            </a:r>
          </a:p>
          <a:p>
            <a:pPr algn="ctr"/>
            <a:r>
              <a:rPr lang="en-US" dirty="0" smtClean="0"/>
              <a:t>SECTION: 4</a:t>
            </a:r>
          </a:p>
          <a:p>
            <a:pPr algn="ctr"/>
            <a:r>
              <a:rPr lang="en-US" dirty="0" smtClean="0"/>
              <a:t>Branch: CSE</a:t>
            </a:r>
          </a:p>
          <a:p>
            <a:pPr algn="ctr"/>
            <a:r>
              <a:rPr lang="en-US" dirty="0" smtClean="0"/>
              <a:t>GUIDED BY: JYOTHSNA DATTI(Assistant professor)</a:t>
            </a:r>
          </a:p>
          <a:p>
            <a:pPr algn="ctr"/>
            <a:r>
              <a:rPr lang="en-US" dirty="0" smtClean="0"/>
              <a:t>2520030157  - SAI SURENDRANATH PENDYALA</a:t>
            </a:r>
          </a:p>
          <a:p>
            <a:pPr algn="ctr"/>
            <a:r>
              <a:rPr lang="en-US" dirty="0" smtClean="0"/>
              <a:t>2520030325 – VANAPALLI ABHIDEV</a:t>
            </a:r>
          </a:p>
          <a:p>
            <a:pPr algn="ctr"/>
            <a:r>
              <a:rPr lang="en-US" dirty="0" smtClean="0"/>
              <a:t>2026-2027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43170" cy="1086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928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ABSTRACT </a:t>
            </a:r>
          </a:p>
          <a:p>
            <a:r>
              <a:rPr lang="en-US" dirty="0" smtClean="0"/>
              <a:t>INTRODUCTION </a:t>
            </a:r>
          </a:p>
          <a:p>
            <a:r>
              <a:rPr lang="en-US" dirty="0" smtClean="0"/>
              <a:t>REQUIREMENT ANALYSIS</a:t>
            </a:r>
          </a:p>
          <a:p>
            <a:r>
              <a:rPr lang="en-US" dirty="0" smtClean="0"/>
              <a:t>20 LITERATURE PAPERS IN TABLE FORMAT </a:t>
            </a:r>
          </a:p>
          <a:p>
            <a:r>
              <a:rPr lang="en-US" dirty="0" smtClean="0"/>
              <a:t>DATASET DESCRIPTION </a:t>
            </a:r>
          </a:p>
        </p:txBody>
      </p:sp>
    </p:spTree>
    <p:extLst>
      <p:ext uri="{BB962C8B-B14F-4D97-AF65-F5344CB8AC3E}">
        <p14:creationId xmlns:p14="http://schemas.microsoft.com/office/powerpoint/2010/main" val="195044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39919"/>
            <a:ext cx="10131425" cy="6064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410547"/>
            <a:ext cx="10131425" cy="36491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Credit card fraud is a major challenge in modern financial systems because </a:t>
            </a:r>
            <a:r>
              <a:rPr lang="en-US" dirty="0" smtClean="0"/>
              <a:t>fraudulent transactions </a:t>
            </a:r>
            <a:r>
              <a:rPr lang="en-US" dirty="0"/>
              <a:t>can cause significant financial losses and reduce customer trust. This project</a:t>
            </a:r>
            <a:r>
              <a:rPr lang="en-US" dirty="0" smtClean="0"/>
              <a:t>, “</a:t>
            </a:r>
            <a:r>
              <a:rPr lang="en-US" dirty="0"/>
              <a:t>Credit Card Fraud Detection Using Logistic Regression, </a:t>
            </a:r>
            <a:r>
              <a:rPr lang="en-US" dirty="0" smtClean="0"/>
              <a:t>SVM and </a:t>
            </a:r>
            <a:r>
              <a:rPr lang="en-US" dirty="0"/>
              <a:t>Isolation Forest</a:t>
            </a:r>
            <a:r>
              <a:rPr lang="en-US" dirty="0" smtClean="0"/>
              <a:t>,” aims to develop </a:t>
            </a:r>
            <a:r>
              <a:rPr lang="en-US" dirty="0"/>
              <a:t>and compare multiple machine learning approaches for identifying fraudulent </a:t>
            </a:r>
            <a:r>
              <a:rPr lang="en-US" dirty="0" smtClean="0"/>
              <a:t>credit card </a:t>
            </a:r>
            <a:r>
              <a:rPr lang="en-US" dirty="0"/>
              <a:t>transactions. The project will use the publicly available Credit Card </a:t>
            </a:r>
            <a:r>
              <a:rPr lang="en-US" dirty="0" smtClean="0"/>
              <a:t>Fraud Detection dataset</a:t>
            </a:r>
            <a:r>
              <a:rPr lang="en-US" dirty="0"/>
              <a:t>, which contains European cardholder transactions , with a balanced </a:t>
            </a:r>
            <a:r>
              <a:rPr lang="en-US" dirty="0" smtClean="0"/>
              <a:t>distribution between </a:t>
            </a:r>
            <a:r>
              <a:rPr lang="en-US" dirty="0"/>
              <a:t>legitimate and fraudulent transactions. The dataset will be preprocessed </a:t>
            </a:r>
            <a:r>
              <a:rPr lang="en-US" dirty="0" smtClean="0"/>
              <a:t>and divided into </a:t>
            </a:r>
            <a:r>
              <a:rPr lang="en-US" dirty="0"/>
              <a:t>training and testing sets while applying appropriate techniques to handle class imbalance</a:t>
            </a:r>
            <a:r>
              <a:rPr lang="en-US" dirty="0" smtClean="0"/>
              <a:t>. Three </a:t>
            </a:r>
            <a:r>
              <a:rPr lang="en-US" dirty="0"/>
              <a:t>approaches—Logistic Regression, Support Vector Machine (SVM), </a:t>
            </a:r>
            <a:r>
              <a:rPr lang="en-US" dirty="0" smtClean="0"/>
              <a:t>and Isolation Forest—will </a:t>
            </a:r>
            <a:r>
              <a:rPr lang="en-US" dirty="0"/>
              <a:t>be implemented and compared. Logistic Regression provides an </a:t>
            </a:r>
            <a:r>
              <a:rPr lang="en-US" dirty="0" smtClean="0"/>
              <a:t>interpretable supervised </a:t>
            </a:r>
            <a:r>
              <a:rPr lang="en-US" dirty="0"/>
              <a:t>classification baseline, SVM identifies complex decision boundaries </a:t>
            </a:r>
            <a:r>
              <a:rPr lang="en-US" dirty="0" smtClean="0"/>
              <a:t>between transaction </a:t>
            </a:r>
            <a:r>
              <a:rPr lang="en-US" dirty="0"/>
              <a:t>classes, while Isolation Forest provides an unsupervised </a:t>
            </a:r>
            <a:r>
              <a:rPr lang="en-US" dirty="0" smtClean="0"/>
              <a:t>anomaly-detection approach </a:t>
            </a:r>
            <a:r>
              <a:rPr lang="en-US" dirty="0"/>
              <a:t>suitable for identifying unusual transactions. The performance of the </a:t>
            </a:r>
            <a:r>
              <a:rPr lang="en-US" dirty="0" smtClean="0"/>
              <a:t>proposed models </a:t>
            </a:r>
            <a:r>
              <a:rPr lang="en-US" dirty="0"/>
              <a:t>will be evaluated using Accuracy, Precision, Recall, F1-Score, ROC-AUC, </a:t>
            </a:r>
            <a:r>
              <a:rPr lang="en-US" dirty="0" smtClean="0"/>
              <a:t>and Confusion </a:t>
            </a:r>
            <a:r>
              <a:rPr lang="en-US" dirty="0"/>
              <a:t>Matrix, with particular emphasis on Precision, Recall, and F1-Score </a:t>
            </a:r>
            <a:r>
              <a:rPr lang="en-US" dirty="0" smtClean="0"/>
              <a:t>because fraud datasets </a:t>
            </a:r>
            <a:r>
              <a:rPr lang="en-US" dirty="0"/>
              <a:t>are highly imbalanced. The final system will compare the strengths </a:t>
            </a:r>
            <a:r>
              <a:rPr lang="en-US" dirty="0" smtClean="0"/>
              <a:t>and limitations of </a:t>
            </a:r>
            <a:r>
              <a:rPr lang="en-US" dirty="0"/>
              <a:t>each algorithm and determine which approach provides the most reliable </a:t>
            </a:r>
            <a:r>
              <a:rPr lang="en-US" dirty="0" smtClean="0"/>
              <a:t>fraud detection performance</a:t>
            </a:r>
            <a:r>
              <a:rPr lang="en-US" dirty="0"/>
              <a:t>. The project aims to demonstrate how machine learning can support </a:t>
            </a:r>
            <a:r>
              <a:rPr lang="en-US" dirty="0" smtClean="0"/>
              <a:t>automated financial </a:t>
            </a:r>
            <a:r>
              <a:rPr lang="en-US" dirty="0"/>
              <a:t>fraud detection while reducing false alarms and improving the </a:t>
            </a:r>
            <a:r>
              <a:rPr lang="en-US" dirty="0" smtClean="0"/>
              <a:t>identification of suspicious </a:t>
            </a:r>
            <a:r>
              <a:rPr lang="en-US" dirty="0"/>
              <a:t>transactions.</a:t>
            </a:r>
          </a:p>
        </p:txBody>
      </p:sp>
    </p:spTree>
    <p:extLst>
      <p:ext uri="{BB962C8B-B14F-4D97-AF65-F5344CB8AC3E}">
        <p14:creationId xmlns:p14="http://schemas.microsoft.com/office/powerpoint/2010/main" val="422128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7115"/>
            <a:ext cx="10131425" cy="681872"/>
          </a:xfrm>
        </p:spPr>
        <p:txBody>
          <a:bodyPr/>
          <a:lstStyle/>
          <a:p>
            <a:pPr algn="ctr"/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056" y="1235587"/>
            <a:ext cx="10131425" cy="364913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rapid growth of digital payments, online banking, and credit card </a:t>
            </a:r>
            <a:r>
              <a:rPr lang="en-US" dirty="0" smtClean="0"/>
              <a:t>transactions has made </a:t>
            </a:r>
            <a:r>
              <a:rPr lang="en-US" dirty="0"/>
              <a:t>electronic financial services more convenient and accessible. However, this </a:t>
            </a:r>
            <a:r>
              <a:rPr lang="en-US" dirty="0" smtClean="0"/>
              <a:t>growth has also </a:t>
            </a:r>
            <a:r>
              <a:rPr lang="en-US" dirty="0"/>
              <a:t>increased opportunities for fraudulent activities, including unauthorized </a:t>
            </a:r>
            <a:r>
              <a:rPr lang="en-US" dirty="0" smtClean="0"/>
              <a:t>transactions and stolen </a:t>
            </a:r>
            <a:r>
              <a:rPr lang="en-US" dirty="0"/>
              <a:t>card usage. Detecting fraudulent transactions is challenging because fraudulent </a:t>
            </a:r>
            <a:r>
              <a:rPr lang="en-US" dirty="0" smtClean="0"/>
              <a:t>events usually </a:t>
            </a:r>
            <a:r>
              <a:rPr lang="en-US" dirty="0"/>
              <a:t>represent only a very small proportion of all transactions. </a:t>
            </a:r>
            <a:r>
              <a:rPr lang="en-US" dirty="0" smtClean="0"/>
              <a:t>A model </a:t>
            </a:r>
            <a:r>
              <a:rPr lang="en-US" dirty="0"/>
              <a:t>that </a:t>
            </a:r>
            <a:r>
              <a:rPr lang="en-US" dirty="0" smtClean="0"/>
              <a:t>simply predicts </a:t>
            </a:r>
            <a:r>
              <a:rPr lang="en-US" dirty="0"/>
              <a:t>every transaction as legitimate may achieve high accuracy while failing </a:t>
            </a:r>
            <a:r>
              <a:rPr lang="en-US" dirty="0" smtClean="0"/>
              <a:t>to detect the transactions </a:t>
            </a:r>
            <a:r>
              <a:rPr lang="en-US" dirty="0"/>
              <a:t>that matter most. Therefore, an effective fraud detection </a:t>
            </a:r>
            <a:r>
              <a:rPr lang="en-US" dirty="0" smtClean="0"/>
              <a:t>system must identify suspicious </a:t>
            </a:r>
            <a:r>
              <a:rPr lang="en-US" dirty="0"/>
              <a:t>transactions while maintaining a reasonable balance between </a:t>
            </a:r>
            <a:r>
              <a:rPr lang="en-US" dirty="0" smtClean="0"/>
              <a:t>detecting fraud and minimizing </a:t>
            </a:r>
            <a:r>
              <a:rPr lang="en-US" dirty="0"/>
              <a:t>false alarms.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project, “Credit Card Fraud Detection Using Logistic Regression, </a:t>
            </a:r>
            <a:r>
              <a:rPr lang="en-US" dirty="0" smtClean="0"/>
              <a:t>SVM and Isolation </a:t>
            </a:r>
            <a:r>
              <a:rPr lang="en-US" dirty="0"/>
              <a:t>Forest,” focuses on applying machine-learning techniques to automatically distinguish fraudulent transactions from legitimate ones. The project will use the Credit </a:t>
            </a:r>
            <a:r>
              <a:rPr lang="en-US" dirty="0" smtClean="0"/>
              <a:t>Card Fraud </a:t>
            </a:r>
            <a:r>
              <a:rPr lang="en-US" dirty="0"/>
              <a:t>Detection dataset from the </a:t>
            </a:r>
            <a:r>
              <a:rPr lang="en-US" dirty="0" err="1" smtClean="0"/>
              <a:t>Kaggle</a:t>
            </a:r>
            <a:r>
              <a:rPr lang="en-US" dirty="0" smtClean="0"/>
              <a:t>. The </a:t>
            </a:r>
            <a:r>
              <a:rPr lang="en-US" dirty="0"/>
              <a:t>dataset is balanced using the </a:t>
            </a:r>
            <a:r>
              <a:rPr lang="en-US" dirty="0" smtClean="0"/>
              <a:t>technique SMOTE(Synthetic </a:t>
            </a:r>
            <a:r>
              <a:rPr lang="en-US" dirty="0"/>
              <a:t>Minority Over-sampling Technique). The dataset will be cleaned</a:t>
            </a:r>
            <a:r>
              <a:rPr lang="en-US" dirty="0" smtClean="0"/>
              <a:t>, normalized </a:t>
            </a:r>
            <a:r>
              <a:rPr lang="en-US" dirty="0"/>
              <a:t>where necessary, and divided into suitable training and testing sets. </a:t>
            </a:r>
            <a:r>
              <a:rPr lang="en-US" dirty="0" smtClean="0"/>
              <a:t>Three different </a:t>
            </a:r>
            <a:r>
              <a:rPr lang="en-US" dirty="0"/>
              <a:t>approaches will then be investigated: Logistic Regression as a </a:t>
            </a:r>
            <a:r>
              <a:rPr lang="en-US" dirty="0" smtClean="0"/>
              <a:t>supervised baseline classifier</a:t>
            </a:r>
            <a:r>
              <a:rPr lang="en-US" dirty="0"/>
              <a:t>, Support Vector Machine (SVM) for learning effective classification boundaries</a:t>
            </a:r>
            <a:r>
              <a:rPr lang="en-US" dirty="0" smtClean="0"/>
              <a:t>, and </a:t>
            </a:r>
            <a:r>
              <a:rPr lang="en-US" dirty="0"/>
              <a:t>Isolation Forest for detecting anomalous transactions without requiring </a:t>
            </a:r>
            <a:r>
              <a:rPr lang="en-US" dirty="0" smtClean="0"/>
              <a:t>fraud labels during </a:t>
            </a:r>
            <a:r>
              <a:rPr lang="en-US" dirty="0"/>
              <a:t>anomaly detection. The models will be compared using Accuracy,Precision,Recall,F1-Score,ROC-AUC and Confusion Matrix.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9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788" y="0"/>
            <a:ext cx="10131425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REQUIREMENT ANALYSIS 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698090"/>
            <a:ext cx="12192000" cy="615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202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49" y="0"/>
            <a:ext cx="10131425" cy="845575"/>
          </a:xfrm>
        </p:spPr>
        <p:txBody>
          <a:bodyPr/>
          <a:lstStyle/>
          <a:p>
            <a:pPr algn="ctr"/>
            <a:r>
              <a:rPr lang="en-US" dirty="0" smtClean="0"/>
              <a:t>20 Literature papers (1 – 5)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49" y="1443448"/>
            <a:ext cx="9909525" cy="3649662"/>
          </a:xfrm>
        </p:spPr>
      </p:pic>
    </p:spTree>
    <p:extLst>
      <p:ext uri="{BB962C8B-B14F-4D97-AF65-F5344CB8AC3E}">
        <p14:creationId xmlns:p14="http://schemas.microsoft.com/office/powerpoint/2010/main" val="268685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8658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20 Literature papers </a:t>
            </a:r>
            <a:r>
              <a:rPr lang="en-US" dirty="0" smtClean="0"/>
              <a:t>(6 </a:t>
            </a:r>
            <a:r>
              <a:rPr lang="en-US" dirty="0"/>
              <a:t>– </a:t>
            </a:r>
            <a:r>
              <a:rPr lang="en-US" dirty="0" smtClean="0"/>
              <a:t>10)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00" y="2038350"/>
            <a:ext cx="9206024" cy="3648075"/>
          </a:xfrm>
        </p:spPr>
      </p:pic>
    </p:spTree>
    <p:extLst>
      <p:ext uri="{BB962C8B-B14F-4D97-AF65-F5344CB8AC3E}">
        <p14:creationId xmlns:p14="http://schemas.microsoft.com/office/powerpoint/2010/main" val="50122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37008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20 Literature papers (</a:t>
            </a:r>
            <a:r>
              <a:rPr lang="en-US" dirty="0" smtClean="0"/>
              <a:t>11 </a:t>
            </a:r>
            <a:r>
              <a:rPr lang="en-US" dirty="0"/>
              <a:t>– </a:t>
            </a:r>
            <a:r>
              <a:rPr lang="en-US" dirty="0" smtClean="0"/>
              <a:t>15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97" y="1793875"/>
            <a:ext cx="9542830" cy="3648075"/>
          </a:xfrm>
        </p:spPr>
      </p:pic>
    </p:spTree>
    <p:extLst>
      <p:ext uri="{BB962C8B-B14F-4D97-AF65-F5344CB8AC3E}">
        <p14:creationId xmlns:p14="http://schemas.microsoft.com/office/powerpoint/2010/main" val="179921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20 Literature papers (</a:t>
            </a:r>
            <a:r>
              <a:rPr lang="en-US" dirty="0" smtClean="0"/>
              <a:t>16 </a:t>
            </a:r>
            <a:r>
              <a:rPr lang="en-US" dirty="0"/>
              <a:t>– </a:t>
            </a:r>
            <a:r>
              <a:rPr lang="en-US" dirty="0" smtClean="0"/>
              <a:t>20)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98" y="2141538"/>
            <a:ext cx="9210029" cy="3649662"/>
          </a:xfrm>
        </p:spPr>
      </p:pic>
    </p:spTree>
    <p:extLst>
      <p:ext uri="{BB962C8B-B14F-4D97-AF65-F5344CB8AC3E}">
        <p14:creationId xmlns:p14="http://schemas.microsoft.com/office/powerpoint/2010/main" val="394308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DATASET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Credit Card Fraud Detection dataset used in this project is obtained from </a:t>
            </a:r>
            <a:r>
              <a:rPr lang="en-US" dirty="0" err="1"/>
              <a:t>Kaggle</a:t>
            </a:r>
            <a:r>
              <a:rPr lang="en-US" dirty="0" smtClean="0"/>
              <a:t>.</a:t>
            </a:r>
          </a:p>
          <a:p>
            <a:r>
              <a:rPr lang="en-US" dirty="0"/>
              <a:t>The original dataset contains 20,000 transaction records with 26 attributes</a:t>
            </a:r>
            <a:r>
              <a:rPr lang="en-US" dirty="0" smtClean="0"/>
              <a:t>.</a:t>
            </a:r>
          </a:p>
          <a:p>
            <a:r>
              <a:rPr lang="en-US" dirty="0"/>
              <a:t>To address class imbalance, random </a:t>
            </a:r>
            <a:r>
              <a:rPr lang="en-US" dirty="0" smtClean="0"/>
              <a:t>under sampling </a:t>
            </a:r>
            <a:r>
              <a:rPr lang="en-US" dirty="0"/>
              <a:t>is applied to the majority class. </a:t>
            </a:r>
          </a:p>
          <a:p>
            <a:r>
              <a:rPr lang="en-US" dirty="0"/>
              <a:t>The resulting balanced dataset contains 678 records, consisting of 339 legitimate transactions and 339 fraudulent transactions, giving a 50:50 class distribution</a:t>
            </a:r>
            <a:r>
              <a:rPr lang="en-US" dirty="0" smtClean="0"/>
              <a:t>.</a:t>
            </a:r>
          </a:p>
          <a:p>
            <a:r>
              <a:rPr lang="en-US" dirty="0"/>
              <a:t>The dataset contains numerical and categorical transaction-related attributes</a:t>
            </a:r>
            <a:r>
              <a:rPr lang="en-US" dirty="0" smtClean="0"/>
              <a:t>, with fraud as the target variable for binary classification. </a:t>
            </a:r>
          </a:p>
          <a:p>
            <a:r>
              <a:rPr lang="en-US" dirty="0" smtClean="0"/>
              <a:t>This dataset can be balanced using a technique SMOTE</a:t>
            </a:r>
            <a:r>
              <a:rPr lang="en-US" dirty="0"/>
              <a:t>(Synthetic Minority Over-sampling Technique)</a:t>
            </a:r>
            <a:r>
              <a:rPr lang="en-US" dirty="0" smtClean="0"/>
              <a:t>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34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3817" y="2895600"/>
            <a:ext cx="10131425" cy="1456267"/>
          </a:xfrm>
        </p:spPr>
        <p:txBody>
          <a:bodyPr/>
          <a:lstStyle/>
          <a:p>
            <a:pPr algn="ctr"/>
            <a:r>
              <a:rPr lang="en-US" dirty="0" smtClean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56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419</TotalTime>
  <Words>684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Credit Card Fraud Detection Using Logistic Regression, SVM and Isolation Forest</vt:lpstr>
      <vt:lpstr>CONTENTS</vt:lpstr>
      <vt:lpstr>ABSTRACT</vt:lpstr>
      <vt:lpstr>INTRODUCTION</vt:lpstr>
      <vt:lpstr>REQUIREMENT ANALYSIS </vt:lpstr>
      <vt:lpstr>20 Literature papers (1 – 5)</vt:lpstr>
      <vt:lpstr>20 Literature papers (6 – 10)</vt:lpstr>
      <vt:lpstr>20 Literature papers (11 – 15)</vt:lpstr>
      <vt:lpstr>20 Literature papers (16 – 20)</vt:lpstr>
      <vt:lpstr> DATASET Description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IMPACT ANALYSIS</dc:title>
  <dc:creator>Sai Surendra</dc:creator>
  <cp:lastModifiedBy>Sai Surendra</cp:lastModifiedBy>
  <cp:revision>42</cp:revision>
  <dcterms:created xsi:type="dcterms:W3CDTF">2026-06-10T13:51:49Z</dcterms:created>
  <dcterms:modified xsi:type="dcterms:W3CDTF">2026-08-20T13:53:16Z</dcterms:modified>
</cp:coreProperties>
</file>