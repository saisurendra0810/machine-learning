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1"/>
  </p:sldMasterIdLst>
  <p:sldIdLst>
    <p:sldId id="256" r:id="rId2"/>
    <p:sldId id="279" r:id="rId3"/>
    <p:sldId id="259" r:id="rId4"/>
    <p:sldId id="260" r:id="rId5"/>
    <p:sldId id="281" r:id="rId6"/>
    <p:sldId id="261" r:id="rId7"/>
    <p:sldId id="262" r:id="rId8"/>
    <p:sldId id="263" r:id="rId9"/>
    <p:sldId id="282" r:id="rId10"/>
    <p:sldId id="284" r:id="rId11"/>
    <p:sldId id="285" r:id="rId12"/>
    <p:sldId id="286" r:id="rId13"/>
    <p:sldId id="287" r:id="rId14"/>
    <p:sldId id="288" r:id="rId15"/>
    <p:sldId id="289" r:id="rId16"/>
    <p:sldId id="293" r:id="rId17"/>
    <p:sldId id="291" r:id="rId18"/>
    <p:sldId id="29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81" autoAdjust="0"/>
    <p:restoredTop sz="92010" autoAdjust="0"/>
  </p:normalViewPr>
  <p:slideViewPr>
    <p:cSldViewPr snapToGrid="0">
      <p:cViewPr varScale="1">
        <p:scale>
          <a:sx n="78" d="100"/>
          <a:sy n="78" d="100"/>
        </p:scale>
        <p:origin x="82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1395FDDF-42C6-42D4-9316-5DFE900840F9}" type="datetimeFigureOut">
              <a:rPr lang="en-IN" smtClean="0"/>
              <a:t>22-09-2026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16654903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2461687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539054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395FDDF-42C6-42D4-9316-5DFE900840F9}" type="datetimeFigureOut">
              <a:rPr lang="en-IN" smtClean="0"/>
              <a:t>22-09-2026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796727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395FDDF-42C6-42D4-9316-5DFE900840F9}" type="datetimeFigureOut">
              <a:rPr lang="en-IN" smtClean="0"/>
              <a:t>22-09-2026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61073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395FDDF-42C6-42D4-9316-5DFE900840F9}" type="datetimeFigureOut">
              <a:rPr lang="en-IN" smtClean="0"/>
              <a:t>22-09-2026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62803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1395FDDF-42C6-42D4-9316-5DFE900840F9}" type="datetimeFigureOut">
              <a:rPr lang="en-IN" smtClean="0"/>
              <a:t>22-09-2026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4528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22-09-2026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682288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22-09-2026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15478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22-09-2026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007175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995152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4283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23845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0835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306044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676631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22-09-2026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89918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395FDDF-42C6-42D4-9316-5DFE900840F9}" type="datetimeFigureOut">
              <a:rPr lang="en-IN" smtClean="0"/>
              <a:t>22-09-2026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AD6A22-0BF5-47B3-AAFB-2EB592D6F415}" type="slidenum">
              <a:rPr lang="en-IN" smtClean="0"/>
              <a:t>‹#›</a:t>
            </a:fld>
            <a:endParaRPr lang="en-IN"/>
          </a:p>
        </p:txBody>
      </p:sp>
    </p:spTree>
    <p:extLst>
      <p:ext uri="{BB962C8B-B14F-4D97-AF65-F5344CB8AC3E}">
        <p14:creationId xmlns:p14="http://schemas.microsoft.com/office/powerpoint/2010/main" val="1051449212"/>
      </p:ext>
    </p:extLst>
  </p:cSld>
  <p:clrMap bg1="dk1" tx1="lt1" bg2="dk2" tx2="lt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 id="2147483869" r:id="rId13"/>
    <p:sldLayoutId id="2147483870" r:id="rId14"/>
    <p:sldLayoutId id="2147483871" r:id="rId15"/>
    <p:sldLayoutId id="2147483872" r:id="rId16"/>
    <p:sldLayoutId id="214748387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84147" y="1323244"/>
            <a:ext cx="7955279" cy="852085"/>
          </a:xfrm>
        </p:spPr>
        <p:txBody>
          <a:bodyPr>
            <a:noAutofit/>
          </a:bodyPr>
          <a:lstStyle/>
          <a:p>
            <a:pPr algn="ctr"/>
            <a:r>
              <a:rPr lang="en-US" sz="2800" dirty="0"/>
              <a:t>Credit Card Fraud Detection Using Logistic Regression, </a:t>
            </a:r>
            <a:r>
              <a:rPr lang="en-US" sz="2800" dirty="0" smtClean="0"/>
              <a:t>SVM and </a:t>
            </a:r>
            <a:r>
              <a:rPr lang="en-US" sz="2800" dirty="0"/>
              <a:t>Isolation Forest</a:t>
            </a:r>
            <a:endParaRPr lang="en-IN" sz="2800" dirty="0"/>
          </a:p>
        </p:txBody>
      </p:sp>
      <p:sp>
        <p:nvSpPr>
          <p:cNvPr id="3" name="Subtitle 2"/>
          <p:cNvSpPr>
            <a:spLocks noGrp="1"/>
          </p:cNvSpPr>
          <p:nvPr>
            <p:ph type="subTitle" idx="1"/>
          </p:nvPr>
        </p:nvSpPr>
        <p:spPr>
          <a:xfrm>
            <a:off x="3962399" y="2175329"/>
            <a:ext cx="7197726" cy="4170607"/>
          </a:xfrm>
        </p:spPr>
        <p:txBody>
          <a:bodyPr>
            <a:normAutofit/>
          </a:bodyPr>
          <a:lstStyle/>
          <a:p>
            <a:pPr algn="ctr"/>
            <a:r>
              <a:rPr lang="en-US" dirty="0" smtClean="0"/>
              <a:t>COURSE : Machine learning</a:t>
            </a:r>
          </a:p>
          <a:p>
            <a:pPr algn="ctr"/>
            <a:r>
              <a:rPr lang="en-US" dirty="0" smtClean="0"/>
              <a:t>COURSE CODE: 25SC2107E</a:t>
            </a:r>
          </a:p>
          <a:p>
            <a:pPr algn="ctr"/>
            <a:r>
              <a:rPr lang="en-US" dirty="0" smtClean="0"/>
              <a:t>SECTION: 4</a:t>
            </a:r>
          </a:p>
          <a:p>
            <a:pPr algn="ctr"/>
            <a:r>
              <a:rPr lang="en-US" dirty="0" smtClean="0"/>
              <a:t>Branch: CSE</a:t>
            </a:r>
          </a:p>
          <a:p>
            <a:pPr algn="ctr"/>
            <a:r>
              <a:rPr lang="en-US" dirty="0" smtClean="0"/>
              <a:t>GUIDED BY: JYOTHSNA DATTI(Assistant professor)</a:t>
            </a:r>
          </a:p>
          <a:p>
            <a:pPr algn="ctr"/>
            <a:r>
              <a:rPr lang="en-US" dirty="0" smtClean="0"/>
              <a:t>2520030157  - SAI SURENDRANATH PENDYALA</a:t>
            </a:r>
          </a:p>
          <a:p>
            <a:pPr algn="ctr"/>
            <a:r>
              <a:rPr lang="en-US" dirty="0" smtClean="0"/>
              <a:t>2520030325 – VANAPALLI ABHIDEV</a:t>
            </a:r>
          </a:p>
          <a:p>
            <a:pPr algn="ctr"/>
            <a:r>
              <a:rPr lang="en-US" dirty="0" smtClean="0"/>
              <a:t>2026-2027</a:t>
            </a:r>
          </a:p>
        </p:txBody>
      </p:sp>
      <p:pic>
        <p:nvPicPr>
          <p:cNvPr id="4" name="Picture 3"/>
          <p:cNvPicPr>
            <a:picLocks noChangeAspect="1"/>
          </p:cNvPicPr>
          <p:nvPr/>
        </p:nvPicPr>
        <p:blipFill>
          <a:blip r:embed="rId2"/>
          <a:stretch>
            <a:fillRect/>
          </a:stretch>
        </p:blipFill>
        <p:spPr>
          <a:xfrm>
            <a:off x="0" y="-49161"/>
            <a:ext cx="3043170" cy="1086928"/>
          </a:xfrm>
          <a:prstGeom prst="rect">
            <a:avLst/>
          </a:prstGeom>
          <a:noFill/>
          <a:ln>
            <a:noFill/>
          </a:ln>
        </p:spPr>
      </p:pic>
    </p:spTree>
    <p:extLst>
      <p:ext uri="{BB962C8B-B14F-4D97-AF65-F5344CB8AC3E}">
        <p14:creationId xmlns:p14="http://schemas.microsoft.com/office/powerpoint/2010/main" val="6392828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1"/>
            <a:ext cx="10131425" cy="816076"/>
          </a:xfrm>
        </p:spPr>
        <p:txBody>
          <a:bodyPr/>
          <a:lstStyle/>
          <a:p>
            <a:pPr algn="ctr"/>
            <a:r>
              <a:rPr lang="en-US" dirty="0" smtClean="0"/>
              <a:t>CONTENTS</a:t>
            </a:r>
            <a:endParaRPr lang="en-IN" dirty="0"/>
          </a:p>
        </p:txBody>
      </p:sp>
      <p:sp>
        <p:nvSpPr>
          <p:cNvPr id="3" name="Content Placeholder 2"/>
          <p:cNvSpPr>
            <a:spLocks noGrp="1"/>
          </p:cNvSpPr>
          <p:nvPr>
            <p:ph idx="1"/>
          </p:nvPr>
        </p:nvSpPr>
        <p:spPr>
          <a:xfrm>
            <a:off x="685801" y="1229033"/>
            <a:ext cx="10131425" cy="4562168"/>
          </a:xfrm>
        </p:spPr>
        <p:txBody>
          <a:bodyPr>
            <a:normAutofit fontScale="92500" lnSpcReduction="20000"/>
          </a:bodyPr>
          <a:lstStyle/>
          <a:p>
            <a:r>
              <a:rPr lang="en-US" dirty="0" smtClean="0"/>
              <a:t>ABSTRACT </a:t>
            </a:r>
          </a:p>
          <a:p>
            <a:r>
              <a:rPr lang="en-US" dirty="0" smtClean="0"/>
              <a:t>INTRODUCTION </a:t>
            </a:r>
          </a:p>
          <a:p>
            <a:r>
              <a:rPr lang="en-US" dirty="0" smtClean="0"/>
              <a:t>REQUIREMENT ANALYSIS</a:t>
            </a:r>
          </a:p>
          <a:p>
            <a:r>
              <a:rPr lang="en-US" dirty="0" smtClean="0"/>
              <a:t>20 LITERATURE PAPERS IN TABLE FORMAT </a:t>
            </a:r>
          </a:p>
          <a:p>
            <a:r>
              <a:rPr lang="en-US" dirty="0" smtClean="0"/>
              <a:t>DATASET DESCRIPTION </a:t>
            </a:r>
            <a:endParaRPr lang="en-US" dirty="0" smtClean="0"/>
          </a:p>
          <a:p>
            <a:r>
              <a:rPr lang="en-US" dirty="0" smtClean="0"/>
              <a:t>PROBLEM STATEMENT AND OBJECTIVE </a:t>
            </a:r>
          </a:p>
          <a:p>
            <a:r>
              <a:rPr lang="en-US" dirty="0" smtClean="0"/>
              <a:t>EDA OUTPUT</a:t>
            </a:r>
          </a:p>
          <a:p>
            <a:r>
              <a:rPr lang="en-US" dirty="0" smtClean="0"/>
              <a:t>METHODOLOGY</a:t>
            </a:r>
          </a:p>
          <a:p>
            <a:r>
              <a:rPr lang="en-US" dirty="0" smtClean="0"/>
              <a:t>RESULTS – COMPARISON TABLES WITH PRECISION,RECALL,F1 SCORE,ACCURACY</a:t>
            </a:r>
          </a:p>
          <a:p>
            <a:r>
              <a:rPr lang="en-US" dirty="0"/>
              <a:t>RESULTS – </a:t>
            </a:r>
            <a:r>
              <a:rPr lang="en-US" dirty="0" smtClean="0"/>
              <a:t>GRAPHS</a:t>
            </a:r>
          </a:p>
          <a:p>
            <a:r>
              <a:rPr lang="en-US" dirty="0" smtClean="0"/>
              <a:t>DISCUSSION</a:t>
            </a:r>
            <a:endParaRPr lang="en-US" dirty="0"/>
          </a:p>
          <a:p>
            <a:r>
              <a:rPr lang="en-US" dirty="0" smtClean="0"/>
              <a:t>CONCLUSION</a:t>
            </a:r>
          </a:p>
          <a:p>
            <a:r>
              <a:rPr lang="en-US" dirty="0" smtClean="0"/>
              <a:t>FUTURE SCOPE</a:t>
            </a:r>
            <a:endParaRPr lang="en-US" dirty="0" smtClean="0"/>
          </a:p>
        </p:txBody>
      </p:sp>
    </p:spTree>
    <p:extLst>
      <p:ext uri="{BB962C8B-B14F-4D97-AF65-F5344CB8AC3E}">
        <p14:creationId xmlns:p14="http://schemas.microsoft.com/office/powerpoint/2010/main" val="1950441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439919"/>
            <a:ext cx="10131425" cy="606458"/>
          </a:xfrm>
        </p:spPr>
        <p:txBody>
          <a:bodyPr>
            <a:normAutofit fontScale="90000"/>
          </a:bodyPr>
          <a:lstStyle/>
          <a:p>
            <a:pPr algn="ctr"/>
            <a:r>
              <a:rPr lang="en-US" dirty="0" smtClean="0"/>
              <a:t>ABSTRACT</a:t>
            </a:r>
            <a:endParaRPr lang="en-IN" dirty="0"/>
          </a:p>
        </p:txBody>
      </p:sp>
      <p:sp>
        <p:nvSpPr>
          <p:cNvPr id="3" name="Content Placeholder 2"/>
          <p:cNvSpPr>
            <a:spLocks noGrp="1"/>
          </p:cNvSpPr>
          <p:nvPr>
            <p:ph idx="1"/>
          </p:nvPr>
        </p:nvSpPr>
        <p:spPr>
          <a:xfrm>
            <a:off x="685801" y="1410547"/>
            <a:ext cx="10131425" cy="3649133"/>
          </a:xfrm>
        </p:spPr>
        <p:txBody>
          <a:bodyPr>
            <a:normAutofit fontScale="92500" lnSpcReduction="20000"/>
          </a:bodyPr>
          <a:lstStyle/>
          <a:p>
            <a:pPr algn="just"/>
            <a:r>
              <a:rPr lang="en-US" dirty="0"/>
              <a:t>Credit card fraud is a major challenge in modern financial systems because </a:t>
            </a:r>
            <a:r>
              <a:rPr lang="en-US" dirty="0" smtClean="0"/>
              <a:t>fraudulent transactions </a:t>
            </a:r>
            <a:r>
              <a:rPr lang="en-US" dirty="0"/>
              <a:t>can cause significant financial losses and reduce customer trust. This project</a:t>
            </a:r>
            <a:r>
              <a:rPr lang="en-US" dirty="0" smtClean="0"/>
              <a:t>, “</a:t>
            </a:r>
            <a:r>
              <a:rPr lang="en-US" dirty="0"/>
              <a:t>Credit Card Fraud Detection Using Logistic Regression, </a:t>
            </a:r>
            <a:r>
              <a:rPr lang="en-US" dirty="0" smtClean="0"/>
              <a:t>SVM and </a:t>
            </a:r>
            <a:r>
              <a:rPr lang="en-US" dirty="0"/>
              <a:t>Isolation Forest</a:t>
            </a:r>
            <a:r>
              <a:rPr lang="en-US" dirty="0" smtClean="0"/>
              <a:t>,” aims to develop </a:t>
            </a:r>
            <a:r>
              <a:rPr lang="en-US" dirty="0"/>
              <a:t>and compare multiple machine learning approaches for identifying fraudulent </a:t>
            </a:r>
            <a:r>
              <a:rPr lang="en-US" dirty="0" smtClean="0"/>
              <a:t>credit card </a:t>
            </a:r>
            <a:r>
              <a:rPr lang="en-US" dirty="0"/>
              <a:t>transactions. The project will use the publicly available Credit Card </a:t>
            </a:r>
            <a:r>
              <a:rPr lang="en-US" dirty="0" smtClean="0"/>
              <a:t>Fraud Detection dataset</a:t>
            </a:r>
            <a:r>
              <a:rPr lang="en-US" dirty="0"/>
              <a:t>, which contains European cardholder transactions , with a balanced </a:t>
            </a:r>
            <a:r>
              <a:rPr lang="en-US" dirty="0" smtClean="0"/>
              <a:t>distribution between </a:t>
            </a:r>
            <a:r>
              <a:rPr lang="en-US" dirty="0"/>
              <a:t>legitimate and fraudulent transactions. The dataset will be preprocessed </a:t>
            </a:r>
            <a:r>
              <a:rPr lang="en-US" dirty="0" smtClean="0"/>
              <a:t>and divided into </a:t>
            </a:r>
            <a:r>
              <a:rPr lang="en-US" dirty="0"/>
              <a:t>training and testing sets while applying appropriate techniques to handle class imbalance</a:t>
            </a:r>
            <a:r>
              <a:rPr lang="en-US" dirty="0" smtClean="0"/>
              <a:t>. Three </a:t>
            </a:r>
            <a:r>
              <a:rPr lang="en-US" dirty="0"/>
              <a:t>approaches—Logistic Regression, Support Vector Machine (SVM), </a:t>
            </a:r>
            <a:r>
              <a:rPr lang="en-US" dirty="0" smtClean="0"/>
              <a:t>and Isolation Forest—will </a:t>
            </a:r>
            <a:r>
              <a:rPr lang="en-US" dirty="0"/>
              <a:t>be implemented and compared. Logistic Regression provides an </a:t>
            </a:r>
            <a:r>
              <a:rPr lang="en-US" dirty="0" smtClean="0"/>
              <a:t>interpretable supervised </a:t>
            </a:r>
            <a:r>
              <a:rPr lang="en-US" dirty="0"/>
              <a:t>classification baseline, SVM identifies complex decision boundaries </a:t>
            </a:r>
            <a:r>
              <a:rPr lang="en-US" dirty="0" smtClean="0"/>
              <a:t>between transaction </a:t>
            </a:r>
            <a:r>
              <a:rPr lang="en-US" dirty="0"/>
              <a:t>classes, while Isolation Forest provides an unsupervised </a:t>
            </a:r>
            <a:r>
              <a:rPr lang="en-US" dirty="0" smtClean="0"/>
              <a:t>anomaly-detection approach </a:t>
            </a:r>
            <a:r>
              <a:rPr lang="en-US" dirty="0"/>
              <a:t>suitable for identifying unusual transactions. The performance of the </a:t>
            </a:r>
            <a:r>
              <a:rPr lang="en-US" dirty="0" smtClean="0"/>
              <a:t>proposed models </a:t>
            </a:r>
            <a:r>
              <a:rPr lang="en-US" dirty="0"/>
              <a:t>will be evaluated using Accuracy, Precision, Recall, F1-Score, ROC-AUC, </a:t>
            </a:r>
            <a:r>
              <a:rPr lang="en-US" dirty="0" smtClean="0"/>
              <a:t>and Confusion </a:t>
            </a:r>
            <a:r>
              <a:rPr lang="en-US" dirty="0"/>
              <a:t>Matrix, with particular emphasis on Precision, Recall, and F1-Score </a:t>
            </a:r>
            <a:r>
              <a:rPr lang="en-US" dirty="0" smtClean="0"/>
              <a:t>because fraud datasets </a:t>
            </a:r>
            <a:r>
              <a:rPr lang="en-US" dirty="0"/>
              <a:t>are highly imbalanced. The final system will compare the strengths </a:t>
            </a:r>
            <a:r>
              <a:rPr lang="en-US" dirty="0" smtClean="0"/>
              <a:t>and limitations of </a:t>
            </a:r>
            <a:r>
              <a:rPr lang="en-US" dirty="0"/>
              <a:t>each algorithm and determine which approach provides the most reliable </a:t>
            </a:r>
            <a:r>
              <a:rPr lang="en-US" dirty="0" smtClean="0"/>
              <a:t>fraud detection performance</a:t>
            </a:r>
            <a:r>
              <a:rPr lang="en-US" dirty="0"/>
              <a:t>. The project aims to demonstrate how machine learning can support </a:t>
            </a:r>
            <a:r>
              <a:rPr lang="en-US" dirty="0" smtClean="0"/>
              <a:t>automated financial </a:t>
            </a:r>
            <a:r>
              <a:rPr lang="en-US" dirty="0"/>
              <a:t>fraud detection while reducing false alarms and improving the </a:t>
            </a:r>
            <a:r>
              <a:rPr lang="en-US" dirty="0" smtClean="0"/>
              <a:t>identification of suspicious </a:t>
            </a:r>
            <a:r>
              <a:rPr lang="en-US" dirty="0"/>
              <a:t>transactions.</a:t>
            </a:r>
          </a:p>
        </p:txBody>
      </p:sp>
    </p:spTree>
    <p:extLst>
      <p:ext uri="{BB962C8B-B14F-4D97-AF65-F5344CB8AC3E}">
        <p14:creationId xmlns:p14="http://schemas.microsoft.com/office/powerpoint/2010/main" val="42212808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7115"/>
            <a:ext cx="10131425" cy="681872"/>
          </a:xfrm>
        </p:spPr>
        <p:txBody>
          <a:bodyPr/>
          <a:lstStyle/>
          <a:p>
            <a:pPr algn="ctr"/>
            <a:r>
              <a:rPr lang="en-US" dirty="0" smtClean="0"/>
              <a:t>INTRODUCTION</a:t>
            </a:r>
            <a:endParaRPr lang="en-IN" dirty="0"/>
          </a:p>
        </p:txBody>
      </p:sp>
      <p:sp>
        <p:nvSpPr>
          <p:cNvPr id="3" name="Content Placeholder 2"/>
          <p:cNvSpPr>
            <a:spLocks noGrp="1"/>
          </p:cNvSpPr>
          <p:nvPr>
            <p:ph idx="1"/>
          </p:nvPr>
        </p:nvSpPr>
        <p:spPr>
          <a:xfrm>
            <a:off x="846056" y="1235587"/>
            <a:ext cx="10131425" cy="4319639"/>
          </a:xfrm>
        </p:spPr>
        <p:txBody>
          <a:bodyPr>
            <a:normAutofit lnSpcReduction="10000"/>
          </a:bodyPr>
          <a:lstStyle/>
          <a:p>
            <a:pPr algn="just"/>
            <a:r>
              <a:rPr lang="en-US" dirty="0"/>
              <a:t>The rapid growth of digital payments, online banking, and credit card </a:t>
            </a:r>
            <a:r>
              <a:rPr lang="en-US" dirty="0" smtClean="0"/>
              <a:t>transactions has made </a:t>
            </a:r>
            <a:r>
              <a:rPr lang="en-US" dirty="0"/>
              <a:t>electronic financial services more convenient and accessible. However, this </a:t>
            </a:r>
            <a:r>
              <a:rPr lang="en-US" dirty="0" smtClean="0"/>
              <a:t>growth has also </a:t>
            </a:r>
            <a:r>
              <a:rPr lang="en-US" dirty="0"/>
              <a:t>increased opportunities for fraudulent activities, including unauthorized </a:t>
            </a:r>
            <a:r>
              <a:rPr lang="en-US" dirty="0" smtClean="0"/>
              <a:t>transactions and stolen </a:t>
            </a:r>
            <a:r>
              <a:rPr lang="en-US" dirty="0"/>
              <a:t>card usage. Detecting fraudulent transactions is challenging because fraudulent </a:t>
            </a:r>
            <a:r>
              <a:rPr lang="en-US" dirty="0" smtClean="0"/>
              <a:t>events usually </a:t>
            </a:r>
            <a:r>
              <a:rPr lang="en-US" dirty="0"/>
              <a:t>represent only a very small proportion of all transactions. </a:t>
            </a:r>
            <a:r>
              <a:rPr lang="en-US" dirty="0" smtClean="0"/>
              <a:t>A model </a:t>
            </a:r>
            <a:r>
              <a:rPr lang="en-US" dirty="0"/>
              <a:t>that </a:t>
            </a:r>
            <a:r>
              <a:rPr lang="en-US" dirty="0" smtClean="0"/>
              <a:t>simply predicts </a:t>
            </a:r>
            <a:r>
              <a:rPr lang="en-US" dirty="0"/>
              <a:t>every transaction as legitimate may achieve high accuracy while failing </a:t>
            </a:r>
            <a:r>
              <a:rPr lang="en-US" dirty="0" smtClean="0"/>
              <a:t>to detect the transactions </a:t>
            </a:r>
            <a:r>
              <a:rPr lang="en-US" dirty="0"/>
              <a:t>that matter most. Therefore, an effective fraud detection </a:t>
            </a:r>
            <a:r>
              <a:rPr lang="en-US" dirty="0" smtClean="0"/>
              <a:t>system must identify suspicious </a:t>
            </a:r>
            <a:r>
              <a:rPr lang="en-US" dirty="0"/>
              <a:t>transactions while maintaining a reasonable balance between </a:t>
            </a:r>
            <a:r>
              <a:rPr lang="en-US" dirty="0" smtClean="0"/>
              <a:t>detecting fraud and minimizing </a:t>
            </a:r>
            <a:r>
              <a:rPr lang="en-US" dirty="0"/>
              <a:t>false alarms. </a:t>
            </a:r>
            <a:r>
              <a:rPr lang="en-US" dirty="0" smtClean="0"/>
              <a:t>This </a:t>
            </a:r>
            <a:r>
              <a:rPr lang="en-US" dirty="0"/>
              <a:t>project, “Credit Card Fraud Detection Using Logistic Regression, </a:t>
            </a:r>
            <a:r>
              <a:rPr lang="en-US" dirty="0" smtClean="0"/>
              <a:t>SVM and Isolation </a:t>
            </a:r>
            <a:r>
              <a:rPr lang="en-US" dirty="0"/>
              <a:t>Forest,” focuses on applying machine-learning techniques to automatically distinguish fraudulent transactions from legitimate ones. The project will use the Credit </a:t>
            </a:r>
            <a:r>
              <a:rPr lang="en-US" dirty="0" smtClean="0"/>
              <a:t>Card Fraud </a:t>
            </a:r>
            <a:r>
              <a:rPr lang="en-US" dirty="0"/>
              <a:t>Detection dataset from the </a:t>
            </a:r>
            <a:r>
              <a:rPr lang="en-US" dirty="0" err="1" smtClean="0"/>
              <a:t>Kaggle</a:t>
            </a:r>
            <a:r>
              <a:rPr lang="en-US" dirty="0" smtClean="0"/>
              <a:t>. The </a:t>
            </a:r>
            <a:r>
              <a:rPr lang="en-US" dirty="0"/>
              <a:t>dataset is balanced using the </a:t>
            </a:r>
            <a:r>
              <a:rPr lang="en-US" dirty="0" smtClean="0"/>
              <a:t>technique SMOTE(Synthetic </a:t>
            </a:r>
            <a:r>
              <a:rPr lang="en-US" dirty="0"/>
              <a:t>Minority Over-sampling Technique). The dataset will be cleaned</a:t>
            </a:r>
            <a:r>
              <a:rPr lang="en-US" dirty="0" smtClean="0"/>
              <a:t>, normalized </a:t>
            </a:r>
            <a:r>
              <a:rPr lang="en-US" dirty="0"/>
              <a:t>where necessary, and divided into suitable training and testing sets. </a:t>
            </a:r>
            <a:r>
              <a:rPr lang="en-US" dirty="0" smtClean="0"/>
              <a:t>Three different </a:t>
            </a:r>
            <a:r>
              <a:rPr lang="en-US" dirty="0"/>
              <a:t>approaches will then be investigated: Logistic Regression as a </a:t>
            </a:r>
            <a:r>
              <a:rPr lang="en-US" dirty="0" smtClean="0"/>
              <a:t>supervised baseline classifier</a:t>
            </a:r>
            <a:r>
              <a:rPr lang="en-US" dirty="0"/>
              <a:t>, Support Vector Machine (SVM) for learning effective classification boundaries</a:t>
            </a:r>
            <a:r>
              <a:rPr lang="en-US" dirty="0" smtClean="0"/>
              <a:t>, and </a:t>
            </a:r>
            <a:r>
              <a:rPr lang="en-US" dirty="0"/>
              <a:t>Isolation Forest for detecting anomalous transactions without requiring </a:t>
            </a:r>
            <a:r>
              <a:rPr lang="en-US" dirty="0" smtClean="0"/>
              <a:t>fraud labels during </a:t>
            </a:r>
            <a:r>
              <a:rPr lang="en-US" dirty="0"/>
              <a:t>anomaly detection. The models will be compared using Accuracy,Precision,Recall,F1-Score,ROC-AUC and Confusion Matrix.</a:t>
            </a:r>
            <a:endParaRPr lang="en-IN" dirty="0"/>
          </a:p>
        </p:txBody>
      </p:sp>
    </p:spTree>
    <p:extLst>
      <p:ext uri="{BB962C8B-B14F-4D97-AF65-F5344CB8AC3E}">
        <p14:creationId xmlns:p14="http://schemas.microsoft.com/office/powerpoint/2010/main" val="2831912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3788" y="0"/>
            <a:ext cx="10131425" cy="609600"/>
          </a:xfrm>
        </p:spPr>
        <p:txBody>
          <a:bodyPr>
            <a:normAutofit fontScale="90000"/>
          </a:bodyPr>
          <a:lstStyle/>
          <a:p>
            <a:pPr algn="ctr"/>
            <a:r>
              <a:rPr lang="en-US" dirty="0" smtClean="0"/>
              <a:t>REQUIREMENT ANALYSIS </a:t>
            </a:r>
            <a:endParaRPr lang="en-IN"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0" y="698090"/>
            <a:ext cx="12192000" cy="6159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8202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949" y="0"/>
            <a:ext cx="10131425" cy="845575"/>
          </a:xfrm>
        </p:spPr>
        <p:txBody>
          <a:bodyPr/>
          <a:lstStyle/>
          <a:p>
            <a:pPr algn="ctr"/>
            <a:r>
              <a:rPr lang="en-US" dirty="0" smtClean="0"/>
              <a:t>20 Literature papers (1 – 5)</a:t>
            </a:r>
            <a:endParaRPr lang="en-IN"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4849" y="1443448"/>
            <a:ext cx="9909525" cy="3649662"/>
          </a:xfrm>
        </p:spPr>
      </p:pic>
    </p:spTree>
    <p:extLst>
      <p:ext uri="{BB962C8B-B14F-4D97-AF65-F5344CB8AC3E}">
        <p14:creationId xmlns:p14="http://schemas.microsoft.com/office/powerpoint/2010/main" val="26868575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1"/>
            <a:ext cx="10131425" cy="786580"/>
          </a:xfrm>
        </p:spPr>
        <p:txBody>
          <a:bodyPr>
            <a:normAutofit/>
          </a:bodyPr>
          <a:lstStyle/>
          <a:p>
            <a:pPr algn="ctr"/>
            <a:r>
              <a:rPr lang="en-US" dirty="0"/>
              <a:t>20 Literature papers </a:t>
            </a:r>
            <a:r>
              <a:rPr lang="en-US" dirty="0" smtClean="0"/>
              <a:t>(6 </a:t>
            </a:r>
            <a:r>
              <a:rPr lang="en-US" dirty="0"/>
              <a:t>– </a:t>
            </a:r>
            <a:r>
              <a:rPr lang="en-US" dirty="0" smtClean="0"/>
              <a:t>10)</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75500" y="2038350"/>
            <a:ext cx="9206024" cy="3648075"/>
          </a:xfrm>
        </p:spPr>
      </p:pic>
    </p:spTree>
    <p:extLst>
      <p:ext uri="{BB962C8B-B14F-4D97-AF65-F5344CB8AC3E}">
        <p14:creationId xmlns:p14="http://schemas.microsoft.com/office/powerpoint/2010/main" val="5012268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37008"/>
            <a:ext cx="10131425" cy="1456267"/>
          </a:xfrm>
        </p:spPr>
        <p:txBody>
          <a:bodyPr/>
          <a:lstStyle/>
          <a:p>
            <a:pPr algn="ctr"/>
            <a:r>
              <a:rPr lang="en-US" dirty="0"/>
              <a:t>20 Literature papers (</a:t>
            </a:r>
            <a:r>
              <a:rPr lang="en-US" dirty="0" smtClean="0"/>
              <a:t>11 </a:t>
            </a:r>
            <a:r>
              <a:rPr lang="en-US" dirty="0"/>
              <a:t>– </a:t>
            </a:r>
            <a:r>
              <a:rPr lang="en-US" dirty="0" smtClean="0"/>
              <a:t>15</a:t>
            </a:r>
            <a:r>
              <a:rPr lang="en-US" dirty="0"/>
              <a:t>)</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0097" y="1793875"/>
            <a:ext cx="9542830" cy="3648075"/>
          </a:xfrm>
        </p:spPr>
      </p:pic>
    </p:spTree>
    <p:extLst>
      <p:ext uri="{BB962C8B-B14F-4D97-AF65-F5344CB8AC3E}">
        <p14:creationId xmlns:p14="http://schemas.microsoft.com/office/powerpoint/2010/main" val="17992189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20 Literature papers (</a:t>
            </a:r>
            <a:r>
              <a:rPr lang="en-US" dirty="0" smtClean="0"/>
              <a:t>16 </a:t>
            </a:r>
            <a:r>
              <a:rPr lang="en-US" dirty="0"/>
              <a:t>– </a:t>
            </a:r>
            <a:r>
              <a:rPr lang="en-US" dirty="0" smtClean="0"/>
              <a:t>20)</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6498" y="2141538"/>
            <a:ext cx="9210029" cy="3649662"/>
          </a:xfrm>
        </p:spPr>
      </p:pic>
    </p:spTree>
    <p:extLst>
      <p:ext uri="{BB962C8B-B14F-4D97-AF65-F5344CB8AC3E}">
        <p14:creationId xmlns:p14="http://schemas.microsoft.com/office/powerpoint/2010/main" val="394308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 DATASET Description</a:t>
            </a:r>
            <a:endParaRPr lang="en-IN" dirty="0"/>
          </a:p>
        </p:txBody>
      </p:sp>
      <p:sp>
        <p:nvSpPr>
          <p:cNvPr id="3" name="Content Placeholder 2"/>
          <p:cNvSpPr>
            <a:spLocks noGrp="1"/>
          </p:cNvSpPr>
          <p:nvPr>
            <p:ph idx="1"/>
          </p:nvPr>
        </p:nvSpPr>
        <p:spPr/>
        <p:txBody>
          <a:bodyPr/>
          <a:lstStyle/>
          <a:p>
            <a:pPr algn="just"/>
            <a:r>
              <a:rPr lang="en-US" dirty="0"/>
              <a:t>The Credit Card Fraud Detection dataset used in this project is obtained from </a:t>
            </a:r>
            <a:r>
              <a:rPr lang="en-US" dirty="0" err="1" smtClean="0"/>
              <a:t>Kaggle</a:t>
            </a:r>
            <a:r>
              <a:rPr lang="en-US" dirty="0" smtClean="0"/>
              <a:t>. The </a:t>
            </a:r>
            <a:r>
              <a:rPr lang="en-US" dirty="0"/>
              <a:t>original dataset contains 20,000 transaction records with 26 </a:t>
            </a:r>
            <a:r>
              <a:rPr lang="en-US" dirty="0" smtClean="0"/>
              <a:t>attributes. To </a:t>
            </a:r>
            <a:r>
              <a:rPr lang="en-US" dirty="0"/>
              <a:t>address class imbalance, random </a:t>
            </a:r>
            <a:r>
              <a:rPr lang="en-US" dirty="0" smtClean="0"/>
              <a:t>under sampling </a:t>
            </a:r>
            <a:r>
              <a:rPr lang="en-US" dirty="0"/>
              <a:t>is applied to the majority class. </a:t>
            </a:r>
            <a:r>
              <a:rPr lang="en-US" dirty="0" smtClean="0"/>
              <a:t>The </a:t>
            </a:r>
            <a:r>
              <a:rPr lang="en-US" dirty="0"/>
              <a:t>resulting balanced dataset contains 678 records, consisting of 339 legitimate transactions and 339 fraudulent transactions, giving a 50:50 class </a:t>
            </a:r>
            <a:r>
              <a:rPr lang="en-US" dirty="0" smtClean="0"/>
              <a:t>distribution. The </a:t>
            </a:r>
            <a:r>
              <a:rPr lang="en-US" dirty="0"/>
              <a:t>dataset contains numerical and categorical transaction-related attributes</a:t>
            </a:r>
            <a:r>
              <a:rPr lang="en-US" dirty="0" smtClean="0"/>
              <a:t>, with fraud as the target variable for binary classification. </a:t>
            </a:r>
            <a:r>
              <a:rPr lang="en-US" dirty="0" smtClean="0"/>
              <a:t>This </a:t>
            </a:r>
            <a:r>
              <a:rPr lang="en-US" dirty="0" smtClean="0"/>
              <a:t>dataset can be balanced using a technique SMOTE</a:t>
            </a:r>
            <a:r>
              <a:rPr lang="en-US" dirty="0"/>
              <a:t>(Synthetic Minority Over-sampling Technique)</a:t>
            </a:r>
            <a:r>
              <a:rPr lang="en-US" dirty="0" smtClean="0"/>
              <a:t> analysis.</a:t>
            </a:r>
          </a:p>
          <a:p>
            <a:pPr algn="just"/>
            <a:endParaRPr lang="en-IN" dirty="0"/>
          </a:p>
        </p:txBody>
      </p:sp>
    </p:spTree>
    <p:extLst>
      <p:ext uri="{BB962C8B-B14F-4D97-AF65-F5344CB8AC3E}">
        <p14:creationId xmlns:p14="http://schemas.microsoft.com/office/powerpoint/2010/main" val="826340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 AND OBJECTIVE </a:t>
            </a:r>
          </a:p>
        </p:txBody>
      </p:sp>
      <p:sp>
        <p:nvSpPr>
          <p:cNvPr id="3" name="Content Placeholder 2"/>
          <p:cNvSpPr>
            <a:spLocks noGrp="1"/>
          </p:cNvSpPr>
          <p:nvPr>
            <p:ph idx="1"/>
          </p:nvPr>
        </p:nvSpPr>
        <p:spPr/>
        <p:txBody>
          <a:bodyPr/>
          <a:lstStyle/>
          <a:p>
            <a:pPr algn="just"/>
            <a:r>
              <a:rPr lang="en-US" dirty="0"/>
              <a:t>Credit card transactions generate large amounts of data, making manual identification of fraudulent transactions difficult. Fraudulent and legitimate transactions can have similar characteristics, while fraudulent transactions may represent only a small portion of the total transactions. Therefore, an automated machine-learning system is required to identify suspicious transactions and classify them as SAFE or FRAUD</a:t>
            </a:r>
            <a:r>
              <a:rPr lang="en-US" dirty="0" smtClean="0"/>
              <a:t>.</a:t>
            </a:r>
            <a:endParaRPr lang="en-IN" dirty="0"/>
          </a:p>
          <a:p>
            <a:r>
              <a:rPr lang="en-US" dirty="0"/>
              <a:t>Objective: Compare Logistic Regression, SVM and Isolation Forest for credit-card fraud detection.</a:t>
            </a:r>
            <a:endParaRPr lang="en-IN" dirty="0"/>
          </a:p>
        </p:txBody>
      </p:sp>
    </p:spTree>
    <p:extLst>
      <p:ext uri="{BB962C8B-B14F-4D97-AF65-F5344CB8AC3E}">
        <p14:creationId xmlns:p14="http://schemas.microsoft.com/office/powerpoint/2010/main" val="1552442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956" y="0"/>
            <a:ext cx="10131425" cy="530942"/>
          </a:xfrm>
        </p:spPr>
        <p:txBody>
          <a:bodyPr>
            <a:normAutofit fontScale="90000"/>
          </a:bodyPr>
          <a:lstStyle/>
          <a:p>
            <a:pPr algn="ctr"/>
            <a:r>
              <a:rPr lang="en-US" dirty="0" smtClean="0"/>
              <a:t>EDA OUTPUT</a:t>
            </a:r>
            <a:endParaRPr lang="en-IN" dirty="0"/>
          </a:p>
        </p:txBody>
      </p:sp>
      <p:pic>
        <p:nvPicPr>
          <p:cNvPr id="4" name="Content Placeholder 3"/>
          <p:cNvPicPr>
            <a:picLocks noGrp="1" noChangeAspect="1"/>
          </p:cNvPicPr>
          <p:nvPr>
            <p:ph idx="1"/>
          </p:nvPr>
        </p:nvPicPr>
        <p:blipFill>
          <a:blip r:embed="rId2"/>
          <a:stretch>
            <a:fillRect/>
          </a:stretch>
        </p:blipFill>
        <p:spPr>
          <a:xfrm>
            <a:off x="0" y="530942"/>
            <a:ext cx="4559691" cy="2644877"/>
          </a:xfrm>
          <a:prstGeom prst="rect">
            <a:avLst/>
          </a:prstGeom>
        </p:spPr>
      </p:pic>
      <p:pic>
        <p:nvPicPr>
          <p:cNvPr id="5" name="Picture 4"/>
          <p:cNvPicPr>
            <a:picLocks noChangeAspect="1"/>
          </p:cNvPicPr>
          <p:nvPr/>
        </p:nvPicPr>
        <p:blipFill>
          <a:blip r:embed="rId3"/>
          <a:stretch>
            <a:fillRect/>
          </a:stretch>
        </p:blipFill>
        <p:spPr>
          <a:xfrm>
            <a:off x="0" y="3360530"/>
            <a:ext cx="7036485" cy="3497470"/>
          </a:xfrm>
          <a:prstGeom prst="rect">
            <a:avLst/>
          </a:prstGeom>
        </p:spPr>
      </p:pic>
      <p:pic>
        <p:nvPicPr>
          <p:cNvPr id="6" name="Picture 5"/>
          <p:cNvPicPr>
            <a:picLocks noChangeAspect="1"/>
          </p:cNvPicPr>
          <p:nvPr/>
        </p:nvPicPr>
        <p:blipFill>
          <a:blip r:embed="rId4"/>
          <a:stretch>
            <a:fillRect/>
          </a:stretch>
        </p:blipFill>
        <p:spPr>
          <a:xfrm>
            <a:off x="7830441" y="424750"/>
            <a:ext cx="4358426" cy="3041973"/>
          </a:xfrm>
          <a:prstGeom prst="rect">
            <a:avLst/>
          </a:prstGeom>
        </p:spPr>
      </p:pic>
      <p:pic>
        <p:nvPicPr>
          <p:cNvPr id="7" name="Picture 6"/>
          <p:cNvPicPr>
            <a:picLocks noChangeAspect="1"/>
          </p:cNvPicPr>
          <p:nvPr/>
        </p:nvPicPr>
        <p:blipFill>
          <a:blip r:embed="rId5"/>
          <a:stretch>
            <a:fillRect/>
          </a:stretch>
        </p:blipFill>
        <p:spPr>
          <a:xfrm>
            <a:off x="7134808" y="3569608"/>
            <a:ext cx="5155515" cy="3288392"/>
          </a:xfrm>
          <a:prstGeom prst="rect">
            <a:avLst/>
          </a:prstGeom>
        </p:spPr>
      </p:pic>
      <p:pic>
        <p:nvPicPr>
          <p:cNvPr id="8" name="Picture 7"/>
          <p:cNvPicPr>
            <a:picLocks noChangeAspect="1"/>
          </p:cNvPicPr>
          <p:nvPr/>
        </p:nvPicPr>
        <p:blipFill>
          <a:blip r:embed="rId6"/>
          <a:stretch>
            <a:fillRect/>
          </a:stretch>
        </p:blipFill>
        <p:spPr>
          <a:xfrm>
            <a:off x="4542025" y="691426"/>
            <a:ext cx="3306082" cy="2566219"/>
          </a:xfrm>
          <a:prstGeom prst="rect">
            <a:avLst/>
          </a:prstGeom>
        </p:spPr>
      </p:pic>
    </p:spTree>
    <p:extLst>
      <p:ext uri="{BB962C8B-B14F-4D97-AF65-F5344CB8AC3E}">
        <p14:creationId xmlns:p14="http://schemas.microsoft.com/office/powerpoint/2010/main" val="2783548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627" y="127819"/>
            <a:ext cx="10131425" cy="639097"/>
          </a:xfrm>
        </p:spPr>
        <p:txBody>
          <a:bodyPr>
            <a:normAutofit fontScale="90000"/>
          </a:bodyPr>
          <a:lstStyle/>
          <a:p>
            <a:pPr algn="ctr"/>
            <a:r>
              <a:rPr lang="en-US" dirty="0" smtClean="0"/>
              <a:t>METHODOLOGY</a:t>
            </a:r>
            <a:endParaRPr lang="en-IN"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0" y="668594"/>
            <a:ext cx="12309987" cy="6189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7710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633" y="471948"/>
            <a:ext cx="10473812" cy="1456267"/>
          </a:xfrm>
        </p:spPr>
        <p:txBody>
          <a:bodyPr>
            <a:normAutofit fontScale="90000"/>
          </a:bodyPr>
          <a:lstStyle/>
          <a:p>
            <a:r>
              <a:rPr lang="en-US" dirty="0"/>
              <a:t>RESULTS – COMPARISON TABLES WITH PRECISION,RECALL,F1 </a:t>
            </a:r>
            <a:r>
              <a:rPr lang="en-US" dirty="0" smtClean="0"/>
              <a:t>SCORE, ACCURACY, </a:t>
            </a:r>
            <a:r>
              <a:rPr lang="en-US" dirty="0" err="1" smtClean="0"/>
              <a:t>auc</a:t>
            </a:r>
            <a:r>
              <a:rPr lang="en-US" dirty="0" smtClean="0"/>
              <a:t>-roc</a:t>
            </a:r>
            <a:r>
              <a:rPr lang="en-US" dirty="0"/>
              <a:t/>
            </a:r>
            <a:br>
              <a:rPr lang="en-US" dirty="0"/>
            </a:b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71306841"/>
              </p:ext>
            </p:extLst>
          </p:nvPr>
        </p:nvGraphicFramePr>
        <p:xfrm>
          <a:off x="685801" y="2721605"/>
          <a:ext cx="10522976" cy="2489490"/>
        </p:xfrm>
        <a:graphic>
          <a:graphicData uri="http://schemas.openxmlformats.org/drawingml/2006/table">
            <a:tbl>
              <a:tblPr/>
              <a:tblGrid>
                <a:gridCol w="2630744"/>
                <a:gridCol w="2630744"/>
                <a:gridCol w="2630744"/>
                <a:gridCol w="2630744"/>
              </a:tblGrid>
              <a:tr h="414915">
                <a:tc>
                  <a:txBody>
                    <a:bodyPr/>
                    <a:lstStyle/>
                    <a:p>
                      <a:r>
                        <a:rPr lang="en-IN"/>
                        <a:t>Metric</a:t>
                      </a:r>
                    </a:p>
                  </a:txBody>
                  <a:tcPr anchor="ctr">
                    <a:lnL>
                      <a:noFill/>
                    </a:lnL>
                    <a:lnR>
                      <a:noFill/>
                    </a:lnR>
                    <a:lnT>
                      <a:noFill/>
                    </a:lnT>
                    <a:lnB>
                      <a:noFill/>
                    </a:lnB>
                  </a:tcPr>
                </a:tc>
                <a:tc>
                  <a:txBody>
                    <a:bodyPr/>
                    <a:lstStyle/>
                    <a:p>
                      <a:pPr algn="r"/>
                      <a:r>
                        <a:rPr lang="en-IN"/>
                        <a:t>Logistic Regression</a:t>
                      </a:r>
                    </a:p>
                  </a:txBody>
                  <a:tcPr anchor="ctr">
                    <a:lnL>
                      <a:noFill/>
                    </a:lnL>
                    <a:lnR>
                      <a:noFill/>
                    </a:lnR>
                    <a:lnT>
                      <a:noFill/>
                    </a:lnT>
                    <a:lnB>
                      <a:noFill/>
                    </a:lnB>
                  </a:tcPr>
                </a:tc>
                <a:tc>
                  <a:txBody>
                    <a:bodyPr/>
                    <a:lstStyle/>
                    <a:p>
                      <a:pPr algn="r"/>
                      <a:r>
                        <a:rPr lang="en-IN"/>
                        <a:t>SVM</a:t>
                      </a:r>
                    </a:p>
                  </a:txBody>
                  <a:tcPr anchor="ctr">
                    <a:lnL>
                      <a:noFill/>
                    </a:lnL>
                    <a:lnR>
                      <a:noFill/>
                    </a:lnR>
                    <a:lnT>
                      <a:noFill/>
                    </a:lnT>
                    <a:lnB>
                      <a:noFill/>
                    </a:lnB>
                  </a:tcPr>
                </a:tc>
                <a:tc>
                  <a:txBody>
                    <a:bodyPr/>
                    <a:lstStyle/>
                    <a:p>
                      <a:pPr algn="r"/>
                      <a:r>
                        <a:rPr lang="en-IN"/>
                        <a:t>Isolation Forest</a:t>
                      </a:r>
                    </a:p>
                  </a:txBody>
                  <a:tcPr anchor="ctr">
                    <a:lnL>
                      <a:noFill/>
                    </a:lnL>
                    <a:lnR>
                      <a:noFill/>
                    </a:lnR>
                    <a:lnT>
                      <a:noFill/>
                    </a:lnT>
                    <a:lnB>
                      <a:noFill/>
                    </a:lnB>
                  </a:tcPr>
                </a:tc>
              </a:tr>
              <a:tr h="414915">
                <a:tc>
                  <a:txBody>
                    <a:bodyPr/>
                    <a:lstStyle/>
                    <a:p>
                      <a:r>
                        <a:rPr lang="en-IN"/>
                        <a:t>Accuracy</a:t>
                      </a:r>
                    </a:p>
                  </a:txBody>
                  <a:tcPr anchor="ctr">
                    <a:lnL>
                      <a:noFill/>
                    </a:lnL>
                    <a:lnR>
                      <a:noFill/>
                    </a:lnR>
                    <a:lnT>
                      <a:noFill/>
                    </a:lnT>
                    <a:lnB>
                      <a:noFill/>
                    </a:lnB>
                  </a:tcPr>
                </a:tc>
                <a:tc>
                  <a:txBody>
                    <a:bodyPr/>
                    <a:lstStyle/>
                    <a:p>
                      <a:pPr algn="r"/>
                      <a:r>
                        <a:rPr lang="en-IN" b="1"/>
                        <a:t>81.17%</a:t>
                      </a:r>
                      <a:endParaRPr lang="en-IN"/>
                    </a:p>
                  </a:txBody>
                  <a:tcPr anchor="ctr">
                    <a:lnL>
                      <a:noFill/>
                    </a:lnL>
                    <a:lnR>
                      <a:noFill/>
                    </a:lnR>
                    <a:lnT>
                      <a:noFill/>
                    </a:lnT>
                    <a:lnB>
                      <a:noFill/>
                    </a:lnB>
                  </a:tcPr>
                </a:tc>
                <a:tc>
                  <a:txBody>
                    <a:bodyPr/>
                    <a:lstStyle/>
                    <a:p>
                      <a:pPr algn="r"/>
                      <a:r>
                        <a:rPr lang="en-IN" b="1"/>
                        <a:t>80.38%</a:t>
                      </a:r>
                      <a:endParaRPr lang="en-IN"/>
                    </a:p>
                  </a:txBody>
                  <a:tcPr anchor="ctr">
                    <a:lnL>
                      <a:noFill/>
                    </a:lnL>
                    <a:lnR>
                      <a:noFill/>
                    </a:lnR>
                    <a:lnT>
                      <a:noFill/>
                    </a:lnT>
                    <a:lnB>
                      <a:noFill/>
                    </a:lnB>
                  </a:tcPr>
                </a:tc>
                <a:tc>
                  <a:txBody>
                    <a:bodyPr/>
                    <a:lstStyle/>
                    <a:p>
                      <a:pPr algn="r"/>
                      <a:r>
                        <a:rPr lang="en-IN" b="1"/>
                        <a:t>80.02%</a:t>
                      </a:r>
                      <a:endParaRPr lang="en-IN"/>
                    </a:p>
                  </a:txBody>
                  <a:tcPr anchor="ctr">
                    <a:lnL>
                      <a:noFill/>
                    </a:lnL>
                    <a:lnR>
                      <a:noFill/>
                    </a:lnR>
                    <a:lnT>
                      <a:noFill/>
                    </a:lnT>
                    <a:lnB>
                      <a:noFill/>
                    </a:lnB>
                  </a:tcPr>
                </a:tc>
              </a:tr>
              <a:tr h="414915">
                <a:tc>
                  <a:txBody>
                    <a:bodyPr/>
                    <a:lstStyle/>
                    <a:p>
                      <a:r>
                        <a:rPr lang="en-IN"/>
                        <a:t>Precision</a:t>
                      </a:r>
                    </a:p>
                  </a:txBody>
                  <a:tcPr anchor="ctr">
                    <a:lnL>
                      <a:noFill/>
                    </a:lnL>
                    <a:lnR>
                      <a:noFill/>
                    </a:lnR>
                    <a:lnT>
                      <a:noFill/>
                    </a:lnT>
                    <a:lnB>
                      <a:noFill/>
                    </a:lnB>
                  </a:tcPr>
                </a:tc>
                <a:tc>
                  <a:txBody>
                    <a:bodyPr/>
                    <a:lstStyle/>
                    <a:p>
                      <a:pPr algn="r"/>
                      <a:r>
                        <a:rPr lang="en-IN" b="1"/>
                        <a:t>10.62%</a:t>
                      </a:r>
                      <a:endParaRPr lang="en-IN"/>
                    </a:p>
                  </a:txBody>
                  <a:tcPr anchor="ctr">
                    <a:lnL>
                      <a:noFill/>
                    </a:lnL>
                    <a:lnR>
                      <a:noFill/>
                    </a:lnR>
                    <a:lnT>
                      <a:noFill/>
                    </a:lnT>
                    <a:lnB>
                      <a:noFill/>
                    </a:lnB>
                  </a:tcPr>
                </a:tc>
                <a:tc>
                  <a:txBody>
                    <a:bodyPr/>
                    <a:lstStyle/>
                    <a:p>
                      <a:pPr algn="r"/>
                      <a:r>
                        <a:rPr lang="en-IN" b="1"/>
                        <a:t>11.05%</a:t>
                      </a:r>
                      <a:endParaRPr lang="en-IN"/>
                    </a:p>
                  </a:txBody>
                  <a:tcPr anchor="ctr">
                    <a:lnL>
                      <a:noFill/>
                    </a:lnL>
                    <a:lnR>
                      <a:noFill/>
                    </a:lnR>
                    <a:lnT>
                      <a:noFill/>
                    </a:lnT>
                    <a:lnB>
                      <a:noFill/>
                    </a:lnB>
                  </a:tcPr>
                </a:tc>
                <a:tc>
                  <a:txBody>
                    <a:bodyPr/>
                    <a:lstStyle/>
                    <a:p>
                      <a:pPr algn="r"/>
                      <a:r>
                        <a:rPr lang="en-IN" b="1"/>
                        <a:t>34.38%</a:t>
                      </a:r>
                      <a:endParaRPr lang="en-IN"/>
                    </a:p>
                  </a:txBody>
                  <a:tcPr anchor="ctr">
                    <a:lnL>
                      <a:noFill/>
                    </a:lnL>
                    <a:lnR>
                      <a:noFill/>
                    </a:lnR>
                    <a:lnT>
                      <a:noFill/>
                    </a:lnT>
                    <a:lnB>
                      <a:noFill/>
                    </a:lnB>
                  </a:tcPr>
                </a:tc>
              </a:tr>
              <a:tr h="414915">
                <a:tc>
                  <a:txBody>
                    <a:bodyPr/>
                    <a:lstStyle/>
                    <a:p>
                      <a:r>
                        <a:rPr lang="en-IN"/>
                        <a:t>Recall</a:t>
                      </a:r>
                    </a:p>
                  </a:txBody>
                  <a:tcPr anchor="ctr">
                    <a:lnL>
                      <a:noFill/>
                    </a:lnL>
                    <a:lnR>
                      <a:noFill/>
                    </a:lnR>
                    <a:lnT>
                      <a:noFill/>
                    </a:lnT>
                    <a:lnB>
                      <a:noFill/>
                    </a:lnB>
                  </a:tcPr>
                </a:tc>
                <a:tc>
                  <a:txBody>
                    <a:bodyPr/>
                    <a:lstStyle/>
                    <a:p>
                      <a:pPr algn="r"/>
                      <a:r>
                        <a:rPr lang="en-IN" b="1"/>
                        <a:t>86.83%</a:t>
                      </a:r>
                      <a:endParaRPr lang="en-IN"/>
                    </a:p>
                  </a:txBody>
                  <a:tcPr anchor="ctr">
                    <a:lnL>
                      <a:noFill/>
                    </a:lnL>
                    <a:lnR>
                      <a:noFill/>
                    </a:lnR>
                    <a:lnT>
                      <a:noFill/>
                    </a:lnT>
                    <a:lnB>
                      <a:noFill/>
                    </a:lnB>
                  </a:tcPr>
                </a:tc>
                <a:tc>
                  <a:txBody>
                    <a:bodyPr/>
                    <a:lstStyle/>
                    <a:p>
                      <a:pPr algn="r"/>
                      <a:r>
                        <a:rPr lang="en-IN" b="1"/>
                        <a:t>83.25%</a:t>
                      </a:r>
                      <a:endParaRPr lang="en-IN"/>
                    </a:p>
                  </a:txBody>
                  <a:tcPr anchor="ctr">
                    <a:lnL>
                      <a:noFill/>
                    </a:lnL>
                    <a:lnR>
                      <a:noFill/>
                    </a:lnR>
                    <a:lnT>
                      <a:noFill/>
                    </a:lnT>
                    <a:lnB>
                      <a:noFill/>
                    </a:lnB>
                  </a:tcPr>
                </a:tc>
                <a:tc>
                  <a:txBody>
                    <a:bodyPr/>
                    <a:lstStyle/>
                    <a:p>
                      <a:pPr algn="r"/>
                      <a:r>
                        <a:rPr lang="en-IN" b="1"/>
                        <a:t>17.75%</a:t>
                      </a:r>
                      <a:endParaRPr lang="en-IN"/>
                    </a:p>
                  </a:txBody>
                  <a:tcPr anchor="ctr">
                    <a:lnL>
                      <a:noFill/>
                    </a:lnL>
                    <a:lnR>
                      <a:noFill/>
                    </a:lnR>
                    <a:lnT>
                      <a:noFill/>
                    </a:lnT>
                    <a:lnB>
                      <a:noFill/>
                    </a:lnB>
                  </a:tcPr>
                </a:tc>
              </a:tr>
              <a:tr h="414915">
                <a:tc>
                  <a:txBody>
                    <a:bodyPr/>
                    <a:lstStyle/>
                    <a:p>
                      <a:r>
                        <a:rPr lang="en-IN"/>
                        <a:t>F1-Score</a:t>
                      </a:r>
                    </a:p>
                  </a:txBody>
                  <a:tcPr anchor="ctr">
                    <a:lnL>
                      <a:noFill/>
                    </a:lnL>
                    <a:lnR>
                      <a:noFill/>
                    </a:lnR>
                    <a:lnT>
                      <a:noFill/>
                    </a:lnT>
                    <a:lnB>
                      <a:noFill/>
                    </a:lnB>
                  </a:tcPr>
                </a:tc>
                <a:tc>
                  <a:txBody>
                    <a:bodyPr/>
                    <a:lstStyle/>
                    <a:p>
                      <a:pPr algn="r"/>
                      <a:r>
                        <a:rPr lang="en-IN" b="1"/>
                        <a:t>18.07%</a:t>
                      </a:r>
                      <a:endParaRPr lang="en-IN"/>
                    </a:p>
                  </a:txBody>
                  <a:tcPr anchor="ctr">
                    <a:lnL>
                      <a:noFill/>
                    </a:lnL>
                    <a:lnR>
                      <a:noFill/>
                    </a:lnR>
                    <a:lnT>
                      <a:noFill/>
                    </a:lnT>
                    <a:lnB>
                      <a:noFill/>
                    </a:lnB>
                  </a:tcPr>
                </a:tc>
                <a:tc>
                  <a:txBody>
                    <a:bodyPr/>
                    <a:lstStyle/>
                    <a:p>
                      <a:pPr algn="r"/>
                      <a:r>
                        <a:rPr lang="en-IN" b="1"/>
                        <a:t>19.41%</a:t>
                      </a:r>
                      <a:endParaRPr lang="en-IN"/>
                    </a:p>
                  </a:txBody>
                  <a:tcPr anchor="ctr">
                    <a:lnL>
                      <a:noFill/>
                    </a:lnL>
                    <a:lnR>
                      <a:noFill/>
                    </a:lnR>
                    <a:lnT>
                      <a:noFill/>
                    </a:lnT>
                    <a:lnB>
                      <a:noFill/>
                    </a:lnB>
                  </a:tcPr>
                </a:tc>
                <a:tc>
                  <a:txBody>
                    <a:bodyPr/>
                    <a:lstStyle/>
                    <a:p>
                      <a:pPr algn="r"/>
                      <a:r>
                        <a:rPr lang="en-IN" b="1"/>
                        <a:t>23.2%</a:t>
                      </a:r>
                      <a:endParaRPr lang="en-IN"/>
                    </a:p>
                  </a:txBody>
                  <a:tcPr anchor="ctr">
                    <a:lnL>
                      <a:noFill/>
                    </a:lnL>
                    <a:lnR>
                      <a:noFill/>
                    </a:lnR>
                    <a:lnT>
                      <a:noFill/>
                    </a:lnT>
                    <a:lnB>
                      <a:noFill/>
                    </a:lnB>
                  </a:tcPr>
                </a:tc>
              </a:tr>
              <a:tr h="414915">
                <a:tc>
                  <a:txBody>
                    <a:bodyPr/>
                    <a:lstStyle/>
                    <a:p>
                      <a:r>
                        <a:rPr lang="en-IN"/>
                        <a:t>AUC-ROC</a:t>
                      </a:r>
                    </a:p>
                  </a:txBody>
                  <a:tcPr anchor="ctr">
                    <a:lnL>
                      <a:noFill/>
                    </a:lnL>
                    <a:lnR>
                      <a:noFill/>
                    </a:lnR>
                    <a:lnT>
                      <a:noFill/>
                    </a:lnT>
                    <a:lnB>
                      <a:noFill/>
                    </a:lnB>
                  </a:tcPr>
                </a:tc>
                <a:tc>
                  <a:txBody>
                    <a:bodyPr/>
                    <a:lstStyle/>
                    <a:p>
                      <a:pPr algn="r"/>
                      <a:r>
                        <a:rPr lang="en-IN" b="1"/>
                        <a:t>92.40%</a:t>
                      </a:r>
                      <a:endParaRPr lang="en-IN"/>
                    </a:p>
                  </a:txBody>
                  <a:tcPr anchor="ctr">
                    <a:lnL>
                      <a:noFill/>
                    </a:lnL>
                    <a:lnR>
                      <a:noFill/>
                    </a:lnR>
                    <a:lnT>
                      <a:noFill/>
                    </a:lnT>
                    <a:lnB>
                      <a:noFill/>
                    </a:lnB>
                  </a:tcPr>
                </a:tc>
                <a:tc>
                  <a:txBody>
                    <a:bodyPr/>
                    <a:lstStyle/>
                    <a:p>
                      <a:pPr algn="r"/>
                      <a:r>
                        <a:rPr lang="en-IN" b="1"/>
                        <a:t>92.63%</a:t>
                      </a:r>
                      <a:endParaRPr lang="en-IN"/>
                    </a:p>
                  </a:txBody>
                  <a:tcPr anchor="ctr">
                    <a:lnL>
                      <a:noFill/>
                    </a:lnL>
                    <a:lnR>
                      <a:noFill/>
                    </a:lnR>
                    <a:lnT>
                      <a:noFill/>
                    </a:lnT>
                    <a:lnB>
                      <a:noFill/>
                    </a:lnB>
                  </a:tcPr>
                </a:tc>
                <a:tc>
                  <a:txBody>
                    <a:bodyPr/>
                    <a:lstStyle/>
                    <a:p>
                      <a:pPr algn="r"/>
                      <a:r>
                        <a:rPr lang="en-IN" b="1" dirty="0"/>
                        <a:t>94.12%</a:t>
                      </a:r>
                      <a:endParaRPr lang="en-IN" dirty="0"/>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033723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RESULTS - GRAPHS</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97208" y="2065867"/>
            <a:ext cx="5474493" cy="3649662"/>
          </a:xfr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60294" y="2065867"/>
            <a:ext cx="5869859" cy="3913239"/>
          </a:xfrm>
          <a:prstGeom prst="rect">
            <a:avLst/>
          </a:prstGeom>
        </p:spPr>
      </p:pic>
    </p:spTree>
    <p:extLst>
      <p:ext uri="{BB962C8B-B14F-4D97-AF65-F5344CB8AC3E}">
        <p14:creationId xmlns:p14="http://schemas.microsoft.com/office/powerpoint/2010/main" val="3186164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DISCUSSION</a:t>
            </a:r>
            <a:endParaRPr lang="en-IN" dirty="0"/>
          </a:p>
        </p:txBody>
      </p:sp>
      <p:sp>
        <p:nvSpPr>
          <p:cNvPr id="3" name="Content Placeholder 2"/>
          <p:cNvSpPr>
            <a:spLocks noGrp="1"/>
          </p:cNvSpPr>
          <p:nvPr>
            <p:ph idx="1"/>
          </p:nvPr>
        </p:nvSpPr>
        <p:spPr/>
        <p:txBody>
          <a:bodyPr/>
          <a:lstStyle/>
          <a:p>
            <a:pPr algn="just"/>
            <a:r>
              <a:rPr lang="en-US" dirty="0"/>
              <a:t>The performance of the three models differs because they use different approaches to fraud detection. Logistic Regression and SVM are supervised classification algorithms that learn patterns from labeled transactions, while Isolation Forest focuses on identifying unusual or anomalous transactions. The results also show that fraud detection involves a trade-off between Precision and Recall. Logistic Regression has higher Recall, whereas Isolation Forest has higher Precision. The relatively low F1-Scores are influenced by the highly imbalanced dataset, where fraudulent transactions represent only 1.70% of all transactions. Therefore, evaluating the models using multiple metrics such as Precision, Recall, F1-Score, and AUC-ROC provides a more meaningful understanding of their performance than Accuracy alone.</a:t>
            </a:r>
            <a:endParaRPr lang="en-IN" dirty="0"/>
          </a:p>
        </p:txBody>
      </p:sp>
    </p:spTree>
    <p:extLst>
      <p:ext uri="{BB962C8B-B14F-4D97-AF65-F5344CB8AC3E}">
        <p14:creationId xmlns:p14="http://schemas.microsoft.com/office/powerpoint/2010/main" val="490643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CONCLUSION</a:t>
            </a:r>
            <a:endParaRPr lang="en-IN" dirty="0"/>
          </a:p>
        </p:txBody>
      </p:sp>
      <p:sp>
        <p:nvSpPr>
          <p:cNvPr id="3" name="Content Placeholder 2"/>
          <p:cNvSpPr>
            <a:spLocks noGrp="1"/>
          </p:cNvSpPr>
          <p:nvPr>
            <p:ph idx="1"/>
          </p:nvPr>
        </p:nvSpPr>
        <p:spPr/>
        <p:txBody>
          <a:bodyPr>
            <a:normAutofit/>
          </a:bodyPr>
          <a:lstStyle/>
          <a:p>
            <a:pPr algn="just"/>
            <a:r>
              <a:rPr lang="en-US" dirty="0"/>
              <a:t>The project successfully developed a machine-learning-based credit card fraud detection system for identifying suspicious </a:t>
            </a:r>
            <a:r>
              <a:rPr lang="en-US" dirty="0" smtClean="0"/>
              <a:t>transactions. Logistic </a:t>
            </a:r>
            <a:r>
              <a:rPr lang="en-US" dirty="0"/>
              <a:t>Regression, Support Vector Machine (SVM), and Isolation Forest were implemented and </a:t>
            </a:r>
            <a:r>
              <a:rPr lang="en-US" dirty="0" smtClean="0"/>
              <a:t>evaluated. The </a:t>
            </a:r>
            <a:r>
              <a:rPr lang="en-US" dirty="0"/>
              <a:t>dataset contained 20,000 transactions, with 339 fraudulent transactions (1.70%), showing a highly imbalanced fraud-detection </a:t>
            </a:r>
            <a:r>
              <a:rPr lang="en-US" dirty="0" smtClean="0"/>
              <a:t>problem. Exploratory </a:t>
            </a:r>
            <a:r>
              <a:rPr lang="en-US" dirty="0"/>
              <a:t>Data Analysis (EDA) was performed to understand transaction patterns and relationships among important </a:t>
            </a:r>
            <a:r>
              <a:rPr lang="en-US" dirty="0" smtClean="0"/>
              <a:t>features. The </a:t>
            </a:r>
            <a:r>
              <a:rPr lang="en-US" dirty="0"/>
              <a:t>models were evaluated using Accuracy, Precision, Recall, F1-Score, and </a:t>
            </a:r>
            <a:r>
              <a:rPr lang="en-US" dirty="0" smtClean="0"/>
              <a:t>AUC-ROC. The </a:t>
            </a:r>
            <a:r>
              <a:rPr lang="en-US" dirty="0"/>
              <a:t>results show different performance characteristics among the three models. Isolation Forest achieved the highest AUC-ROC (94.12%) and Precision (34.38%), while Logistic Regression achieved the highest Recall (86.83%) among the tested </a:t>
            </a:r>
            <a:r>
              <a:rPr lang="en-US" dirty="0" smtClean="0"/>
              <a:t>models. The </a:t>
            </a:r>
            <a:r>
              <a:rPr lang="en-US" dirty="0"/>
              <a:t>developed system can classify a transaction as SAFE or FRAUD and provides a foundation for automated transaction monitoring.</a:t>
            </a:r>
            <a:endParaRPr lang="en-IN" dirty="0"/>
          </a:p>
        </p:txBody>
      </p:sp>
    </p:spTree>
    <p:extLst>
      <p:ext uri="{BB962C8B-B14F-4D97-AF65-F5344CB8AC3E}">
        <p14:creationId xmlns:p14="http://schemas.microsoft.com/office/powerpoint/2010/main" val="1247347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FUTURE SCOPE</a:t>
            </a:r>
            <a:endParaRPr lang="en-IN" dirty="0"/>
          </a:p>
        </p:txBody>
      </p:sp>
      <p:sp>
        <p:nvSpPr>
          <p:cNvPr id="3" name="Content Placeholder 2"/>
          <p:cNvSpPr>
            <a:spLocks noGrp="1"/>
          </p:cNvSpPr>
          <p:nvPr>
            <p:ph idx="1"/>
          </p:nvPr>
        </p:nvSpPr>
        <p:spPr/>
        <p:txBody>
          <a:bodyPr/>
          <a:lstStyle/>
          <a:p>
            <a:pPr algn="just"/>
            <a:r>
              <a:rPr lang="en-US" dirty="0"/>
              <a:t>In the future, the proposed credit card fraud detection system can be enhanced by incorporating advanced machine learning and deep learning algorithms for improved fraud detection. The system can be extended to support real-time transaction monitoring, allowing suspicious transactions to be identified immediately. Additional behavioral features such as transaction frequency, location, device usage, and spending patterns can be incorporated to improve prediction. Techniques for handling imbalanced datasets can also be applied to improve precision and recall. Furthermore, the system can be integrated with real-time alerts, explainable AI, continuous model learning, and cloud deployment to provide a scalable and intelligent fraud detection solution.</a:t>
            </a:r>
          </a:p>
        </p:txBody>
      </p:sp>
    </p:spTree>
    <p:extLst>
      <p:ext uri="{BB962C8B-B14F-4D97-AF65-F5344CB8AC3E}">
        <p14:creationId xmlns:p14="http://schemas.microsoft.com/office/powerpoint/2010/main" val="3841595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13817" y="2895600"/>
            <a:ext cx="10131425" cy="1456267"/>
          </a:xfrm>
        </p:spPr>
        <p:txBody>
          <a:bodyPr/>
          <a:lstStyle/>
          <a:p>
            <a:pPr algn="ctr"/>
            <a:r>
              <a:rPr lang="en-US" dirty="0" smtClean="0"/>
              <a:t>THANK YOU </a:t>
            </a:r>
            <a:endParaRPr lang="en-IN" dirty="0"/>
          </a:p>
        </p:txBody>
      </p:sp>
    </p:spTree>
    <p:extLst>
      <p:ext uri="{BB962C8B-B14F-4D97-AF65-F5344CB8AC3E}">
        <p14:creationId xmlns:p14="http://schemas.microsoft.com/office/powerpoint/2010/main" val="260056869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474</TotalTime>
  <Words>1232</Words>
  <Application>Microsoft Office PowerPoint</Application>
  <PresentationFormat>Widescreen</PresentationFormat>
  <Paragraphs>72</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Celestial</vt:lpstr>
      <vt:lpstr>Credit Card Fraud Detection Using Logistic Regression, SVM and Isolation Forest</vt:lpstr>
      <vt:lpstr>CONTENTS</vt:lpstr>
      <vt:lpstr>ABSTRACT</vt:lpstr>
      <vt:lpstr>INTRODUCTION</vt:lpstr>
      <vt:lpstr>REQUIREMENT ANALYSIS </vt:lpstr>
      <vt:lpstr>20 Literature papers (1 – 5)</vt:lpstr>
      <vt:lpstr>20 Literature papers (6 – 10)</vt:lpstr>
      <vt:lpstr>20 Literature papers (11 – 15)</vt:lpstr>
      <vt:lpstr>20 Literature papers (16 – 20)</vt:lpstr>
      <vt:lpstr> DATASET Description</vt:lpstr>
      <vt:lpstr>PROBLEM STATEMENT AND OBJECTIVE </vt:lpstr>
      <vt:lpstr>EDA OUTPUT</vt:lpstr>
      <vt:lpstr>METHODOLOGY</vt:lpstr>
      <vt:lpstr>RESULTS – COMPARISON TABLES WITH PRECISION,RECALL,F1 SCORE, ACCURACY, auc-roc </vt:lpstr>
      <vt:lpstr>RESULTS - GRAPHS</vt:lpstr>
      <vt:lpstr>DISCUSSION</vt:lpstr>
      <vt:lpstr>CONCLUSION</vt:lpstr>
      <vt:lpstr>FUTURE SCOPE</vt:lpstr>
      <vt:lpstr>THANK YOU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Advertising IMPACT ANALYSIS</dc:title>
  <dc:creator>Sai Surendra</dc:creator>
  <cp:lastModifiedBy>Sai Surendra</cp:lastModifiedBy>
  <cp:revision>47</cp:revision>
  <dcterms:created xsi:type="dcterms:W3CDTF">2026-06-10T13:51:49Z</dcterms:created>
  <dcterms:modified xsi:type="dcterms:W3CDTF">2026-09-22T14:36:39Z</dcterms:modified>
</cp:coreProperties>
</file>